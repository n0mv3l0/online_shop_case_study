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Recognised Revenue</c:v>
                </c:pt>
              </c:strCache>
            </c:strRef>
          </c:tx>
          <c:spPr>
            <a:ln w="31750" cap="flat">
              <a:solidFill>
                <a:srgbClr val="1B3A6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3A66"/>
              </a:solidFill>
              <a:ln w="9525" cap="flat">
                <a:solidFill>
                  <a:srgbClr val="1B3A66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  <c:pt idx="12">
                  <c:v>2025-01</c:v>
                </c:pt>
                <c:pt idx="13">
                  <c:v>2025-02</c:v>
                </c:pt>
                <c:pt idx="14">
                  <c:v>2025-03</c:v>
                </c:pt>
                <c:pt idx="15">
                  <c:v>2025-04</c:v>
                </c:pt>
                <c:pt idx="16">
                  <c:v>2025-05</c:v>
                </c:pt>
                <c:pt idx="17">
                  <c:v>2025-06</c:v>
                </c:pt>
                <c:pt idx="18">
                  <c:v>2025-07</c:v>
                </c:pt>
                <c:pt idx="19">
                  <c:v>2025-08</c:v>
                </c:pt>
                <c:pt idx="20">
                  <c:v>2025-09</c:v>
                </c:pt>
                <c:pt idx="21">
                  <c:v>2025-10</c:v>
                </c:pt>
                <c:pt idx="22">
                  <c:v>2025-11</c:v>
                </c:pt>
                <c:pt idx="23">
                  <c:v>2025-12</c:v>
                </c:pt>
                <c:pt idx="24">
                  <c:v>2026-01</c:v>
                </c:pt>
                <c:pt idx="25">
                  <c:v>2026-02</c:v>
                </c:pt>
                <c:pt idx="26">
                  <c:v>2026-03</c:v>
                </c:pt>
                <c:pt idx="27">
                  <c:v>2026-04</c:v>
                </c:pt>
                <c:pt idx="28">
                  <c:v>2026-05</c:v>
                </c:pt>
                <c:pt idx="29">
                  <c:v>2026-06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17321.75</c:v>
                </c:pt>
                <c:pt idx="1">
                  <c:v>11896.45</c:v>
                </c:pt>
                <c:pt idx="2">
                  <c:v>17863</c:v>
                </c:pt>
                <c:pt idx="3">
                  <c:v>15666.3</c:v>
                </c:pt>
                <c:pt idx="4">
                  <c:v>13481.05</c:v>
                </c:pt>
                <c:pt idx="5">
                  <c:v>15905.9</c:v>
                </c:pt>
                <c:pt idx="6">
                  <c:v>17258.25</c:v>
                </c:pt>
                <c:pt idx="7">
                  <c:v>15846.9</c:v>
                </c:pt>
                <c:pt idx="8">
                  <c:v>13029.35</c:v>
                </c:pt>
                <c:pt idx="9">
                  <c:v>14711.25</c:v>
                </c:pt>
                <c:pt idx="10">
                  <c:v>11984.05</c:v>
                </c:pt>
                <c:pt idx="11">
                  <c:v>16355.4</c:v>
                </c:pt>
                <c:pt idx="12">
                  <c:v>14087.9</c:v>
                </c:pt>
                <c:pt idx="13">
                  <c:v>13320.4</c:v>
                </c:pt>
                <c:pt idx="14">
                  <c:v>15365.5</c:v>
                </c:pt>
                <c:pt idx="15">
                  <c:v>13242.2</c:v>
                </c:pt>
                <c:pt idx="16">
                  <c:v>17008.95</c:v>
                </c:pt>
                <c:pt idx="17">
                  <c:v>14625.95</c:v>
                </c:pt>
                <c:pt idx="18">
                  <c:v>14002.9</c:v>
                </c:pt>
                <c:pt idx="19">
                  <c:v>16554.5</c:v>
                </c:pt>
                <c:pt idx="20">
                  <c:v>13001.05</c:v>
                </c:pt>
                <c:pt idx="21">
                  <c:v>14258.7</c:v>
                </c:pt>
                <c:pt idx="22">
                  <c:v>12879.75</c:v>
                </c:pt>
                <c:pt idx="23">
                  <c:v>12105.75</c:v>
                </c:pt>
                <c:pt idx="24">
                  <c:v>15808.2</c:v>
                </c:pt>
                <c:pt idx="25">
                  <c:v>7122.15</c:v>
                </c:pt>
                <c:pt idx="26">
                  <c:v>11267.8</c:v>
                </c:pt>
                <c:pt idx="27">
                  <c:v>9360.15</c:v>
                </c:pt>
                <c:pt idx="28">
                  <c:v>11005.3</c:v>
                </c:pt>
                <c:pt idx="29">
                  <c:v>9414.4500000000007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3F-4D27-9C67-AA757CD620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0"/>
          <a:lstStyle/>
          <a:p>
            <a:pPr>
              <a:defRPr sz="10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3A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C3E5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Stationery</c:v>
                </c:pt>
                <c:pt idx="1">
                  <c:v>Gaming</c:v>
                </c:pt>
                <c:pt idx="2">
                  <c:v>Home Office</c:v>
                </c:pt>
                <c:pt idx="3">
                  <c:v>Wearables</c:v>
                </c:pt>
                <c:pt idx="4">
                  <c:v>Accessories</c:v>
                </c:pt>
                <c:pt idx="5">
                  <c:v>Electronics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7639.1</c:v>
                </c:pt>
                <c:pt idx="1">
                  <c:v>22341.4</c:v>
                </c:pt>
                <c:pt idx="2">
                  <c:v>56056</c:v>
                </c:pt>
                <c:pt idx="3">
                  <c:v>58338.5</c:v>
                </c:pt>
                <c:pt idx="4">
                  <c:v>64251.4</c:v>
                </c:pt>
                <c:pt idx="5">
                  <c:v>207124.85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C4-4B1B-A677-2B91DD7A68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3E5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Electronics</c:v>
                </c:pt>
                <c:pt idx="1">
                  <c:v>Accessories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3949</c:v>
                </c:pt>
                <c:pt idx="1">
                  <c:v>4028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83-42EB-A943-80EA2B46A9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3A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C3E5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Shiraz</c:v>
                </c:pt>
                <c:pt idx="1">
                  <c:v>Tabriz</c:v>
                </c:pt>
                <c:pt idx="2">
                  <c:v>Isfahan</c:v>
                </c:pt>
                <c:pt idx="3">
                  <c:v>Karaj</c:v>
                </c:pt>
                <c:pt idx="4">
                  <c:v>Mashad</c:v>
                </c:pt>
                <c:pt idx="5">
                  <c:v>Tehran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34847.800000000003</c:v>
                </c:pt>
                <c:pt idx="1">
                  <c:v>35857.75</c:v>
                </c:pt>
                <c:pt idx="2">
                  <c:v>36594.75</c:v>
                </c:pt>
                <c:pt idx="3">
                  <c:v>41912.1</c:v>
                </c:pt>
                <c:pt idx="4">
                  <c:v>57089.9</c:v>
                </c:pt>
                <c:pt idx="5">
                  <c:v>114219.1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7D-4676-A293-5208D1EBFA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3E5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Regular</c:v>
                </c:pt>
                <c:pt idx="1">
                  <c:v>New</c:v>
                </c:pt>
                <c:pt idx="2">
                  <c:v>VIP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236605.3</c:v>
                </c:pt>
                <c:pt idx="1">
                  <c:v>142865.15</c:v>
                </c:pt>
                <c:pt idx="2">
                  <c:v>36280.800000000003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69-4964-8DEF-6BE64FCAED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B3A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3E5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Cancelled</c:v>
                </c:pt>
                <c:pt idx="2">
                  <c:v>Returned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6207</c:v>
                </c:pt>
                <c:pt idx="1">
                  <c:v>359</c:v>
                </c:pt>
                <c:pt idx="2">
                  <c:v>208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C4-48CE-9C2E-E4BED583C9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 rate</c:v>
                </c:pt>
              </c:strCache>
            </c:strRef>
          </c:tx>
          <c:spPr>
            <a:solidFill>
              <a:srgbClr val="1B3A66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3E5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CardToCard</c:v>
                </c:pt>
                <c:pt idx="1">
                  <c:v>Gateway</c:v>
                </c:pt>
                <c:pt idx="2">
                  <c:v>Wallet</c:v>
                </c:pt>
                <c:pt idx="3">
                  <c:v>Cash</c:v>
                </c:pt>
                <c:pt idx="4">
                  <c:v>Unknown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3.55</c:v>
                </c:pt>
                <c:pt idx="2">
                  <c:v>3.4</c:v>
                </c:pt>
                <c:pt idx="3">
                  <c:v>1.87</c:v>
                </c:pt>
                <c:pt idx="4">
                  <c:v>1.35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B6-45FD-9CED-3AA1C56D6A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AOV</c:v>
                </c:pt>
              </c:strCache>
            </c:strRef>
          </c:tx>
          <c:spPr>
            <a:ln w="38100" cap="flat">
              <a:solidFill>
                <a:srgbClr val="1B3A66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B3A66"/>
              </a:solidFill>
              <a:ln w="9525" cap="flat">
                <a:solidFill>
                  <a:srgbClr val="1B3A66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C3E56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  <c:pt idx="5">
                  <c:v>30%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76.63</c:v>
                </c:pt>
                <c:pt idx="1">
                  <c:v>73.599999999999994</c:v>
                </c:pt>
                <c:pt idx="2">
                  <c:v>68.069999999999993</c:v>
                </c:pt>
                <c:pt idx="3">
                  <c:v>70.209999999999994</c:v>
                </c:pt>
                <c:pt idx="4">
                  <c:v>59.34</c:v>
                </c:pt>
                <c:pt idx="5">
                  <c:v>61.22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B4-4402-98C5-41B11F0A239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per order</c:v>
                </c:pt>
              </c:strCache>
            </c:strRef>
          </c:tx>
          <c:spPr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C3E56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  <c:pt idx="5">
                  <c:v>30%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1.89</c:v>
                </c:pt>
                <c:pt idx="1">
                  <c:v>1.91</c:v>
                </c:pt>
                <c:pt idx="2">
                  <c:v>1.9</c:v>
                </c:pt>
                <c:pt idx="3">
                  <c:v>1.95</c:v>
                </c:pt>
                <c:pt idx="4">
                  <c:v>1.84</c:v>
                </c:pt>
                <c:pt idx="5">
                  <c:v>1.78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90-4F1C-A32E-6CFB98E1C66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1"/>
          <c:min val="1.5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Performance: Executive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 performance review  |  January 2024 - June 2026  |  Recognised revenue = Completed + Paid orders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874520" cy="105156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34440"/>
            <a:ext cx="187452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37160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415,751.25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76072" y="1847088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Revenue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8608" y="1234440"/>
            <a:ext cx="1874520" cy="105156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10" name="Shape 8"/>
          <p:cNvSpPr/>
          <p:nvPr/>
        </p:nvSpPr>
        <p:spPr>
          <a:xfrm>
            <a:off x="2578608" y="1234440"/>
            <a:ext cx="187452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37160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5,798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51760" y="1847088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+ Paid Orders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1234440"/>
            <a:ext cx="1874520" cy="105156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14" name="Shape 12"/>
          <p:cNvSpPr/>
          <p:nvPr/>
        </p:nvSpPr>
        <p:spPr>
          <a:xfrm>
            <a:off x="4654296" y="1234440"/>
            <a:ext cx="187452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/>
          <p:nvPr/>
        </p:nvSpPr>
        <p:spPr>
          <a:xfrm>
            <a:off x="4727448" y="137160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71.71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27448" y="1847088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29984" y="1234440"/>
            <a:ext cx="1874520" cy="105156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9984" y="1234440"/>
            <a:ext cx="187452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/>
          <p:nvPr/>
        </p:nvSpPr>
        <p:spPr>
          <a:xfrm>
            <a:off x="6803136" y="137160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10,987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03136" y="1847088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2514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" y="2834640"/>
            <a:ext cx="310896" cy="3108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28346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not consistently growing, with Jan-Jun 2026 below Jan-Jun 2025.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30352" y="3310128"/>
            <a:ext cx="310896" cy="3108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31012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drives revenue while Accessories drives unit volume.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30352" y="3785616"/>
            <a:ext cx="310896" cy="3108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378561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8.38% of orders are cancelled or returned, while 3.50% of payments fail.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02920" y="4370832"/>
            <a:ext cx="8183880" cy="50292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3708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highlights where revenue is generated and where operational leakage may require attention.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Is Fluctuating Rather Than Consistently Growing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0664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recognised revenue, January 2024 - June 2026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280160"/>
          <a:ext cx="61722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629400" y="12344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000" dirty="0"/>
          </a:p>
          <a:p>
            <a:pPr marL="0" indent="0">
              <a:buNone/>
            </a:pPr>
            <a:r>
              <a:rPr lang="en-US" sz="1250" b="1" dirty="0">
                <a:solidFill>
                  <a:srgbClr val="0F2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2024 - 17,863.00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29400" y="18745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month</a:t>
            </a:r>
            <a:endParaRPr lang="en-US" sz="1000" dirty="0"/>
          </a:p>
          <a:p>
            <a:pPr marL="0" indent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2026 - 7,122.15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29400" y="2560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COMPARISON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29400" y="28163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  </a:t>
            </a: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181,319.65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629400" y="32735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 </a:t>
            </a: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170,453.55  (-6.0%)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29400" y="37307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Jan-Jun   </a:t>
            </a: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63,978.05  (-27.0% vs Jan-Jun 2025)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1480" y="4315968"/>
            <a:ext cx="8321040" cy="56692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Shape 12"/>
          <p:cNvSpPr/>
          <p:nvPr/>
        </p:nvSpPr>
        <p:spPr>
          <a:xfrm>
            <a:off x="411480" y="4315968"/>
            <a:ext cx="64008" cy="5669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43159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2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fluctuates month to month, and the first half of 2026 is tracking below the comparable period in 2025.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and Unit Volume Tell Different Stories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0664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revenue by category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23444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983480" y="10241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- the two leading categories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846320" y="1234440"/>
          <a:ext cx="393192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937760" y="2697480"/>
            <a:ext cx="3794760" cy="6858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Shape 7"/>
          <p:cNvSpPr/>
          <p:nvPr/>
        </p:nvSpPr>
        <p:spPr>
          <a:xfrm>
            <a:off x="4937760" y="2697480"/>
            <a:ext cx="54864" cy="685800"/>
          </a:xfrm>
          <a:prstGeom prst="rect">
            <a:avLst/>
          </a:prstGeom>
          <a:solidFill>
            <a:srgbClr val="1B3A66"/>
          </a:solidFill>
          <a:ln/>
        </p:spPr>
      </p:sp>
      <p:sp>
        <p:nvSpPr>
          <p:cNvPr id="12" name="Text 8"/>
          <p:cNvSpPr/>
          <p:nvPr/>
        </p:nvSpPr>
        <p:spPr>
          <a:xfrm>
            <a:off x="5138928" y="26974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product</a:t>
            </a:r>
            <a:endParaRPr lang="en-US" sz="10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2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Headphones - 45,603.75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937760" y="3483864"/>
            <a:ext cx="3794760" cy="6858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937760" y="3483864"/>
            <a:ext cx="54864" cy="685800"/>
          </a:xfrm>
          <a:prstGeom prst="rect">
            <a:avLst/>
          </a:prstGeom>
          <a:solidFill>
            <a:srgbClr val="1B3A66"/>
          </a:solidFill>
          <a:ln/>
        </p:spPr>
      </p:sp>
      <p:sp>
        <p:nvSpPr>
          <p:cNvPr id="15" name="Text 11"/>
          <p:cNvSpPr/>
          <p:nvPr/>
        </p:nvSpPr>
        <p:spPr>
          <a:xfrm>
            <a:off x="5138928" y="348386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unit-volume product</a:t>
            </a:r>
            <a:endParaRPr lang="en-US" sz="10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2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- 1,176 units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11480" y="4315968"/>
            <a:ext cx="8321040" cy="56692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7" name="Shape 13"/>
          <p:cNvSpPr/>
          <p:nvPr/>
        </p:nvSpPr>
        <p:spPr>
          <a:xfrm>
            <a:off x="411480" y="4315968"/>
            <a:ext cx="64008" cy="5669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8" name="Text 14"/>
          <p:cNvSpPr/>
          <p:nvPr/>
        </p:nvSpPr>
        <p:spPr>
          <a:xfrm>
            <a:off x="621792" y="43159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2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main revenue engine, while lower-priced categories generate more unit volume.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Is Concentrated Across Key Markets and Customer Groups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0664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revenue by city (top six)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23444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983480" y="10241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revenue by customer segment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892040" y="1234440"/>
          <a:ext cx="38862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983480" y="2971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by segment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937760" y="3218688"/>
            <a:ext cx="1188720" cy="6583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2" name="Text 8"/>
          <p:cNvSpPr/>
          <p:nvPr/>
        </p:nvSpPr>
        <p:spPr>
          <a:xfrm>
            <a:off x="4937760" y="32735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73.46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36027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218688"/>
            <a:ext cx="1188720" cy="6583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Text 11"/>
          <p:cNvSpPr/>
          <p:nvPr/>
        </p:nvSpPr>
        <p:spPr>
          <a:xfrm>
            <a:off x="6217920" y="32735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70.31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217920" y="36027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498080" y="3218688"/>
            <a:ext cx="1188720" cy="6583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8" name="Text 14"/>
          <p:cNvSpPr/>
          <p:nvPr/>
        </p:nvSpPr>
        <p:spPr>
          <a:xfrm>
            <a:off x="7498080" y="32735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66.57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498080" y="36027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937760" y="3931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customers have a lower observed AOV than Regular and New customers in this dataset.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11480" y="4315968"/>
            <a:ext cx="8321040" cy="56692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2" name="Shape 18"/>
          <p:cNvSpPr/>
          <p:nvPr/>
        </p:nvSpPr>
        <p:spPr>
          <a:xfrm>
            <a:off x="411480" y="4315968"/>
            <a:ext cx="64008" cy="5669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3" name="Text 19"/>
          <p:cNvSpPr/>
          <p:nvPr/>
        </p:nvSpPr>
        <p:spPr>
          <a:xfrm>
            <a:off x="621792" y="43159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2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Tehran and Regular customers are the largest revenue contributors.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Cancelled, Returned and Failed Orders Create Operational Leakage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0664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24128"/>
            <a:ext cx="192024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88720"/>
            <a:ext cx="1737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5.30%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1562710"/>
            <a:ext cx="1737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024128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24128"/>
            <a:ext cx="192024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188720"/>
            <a:ext cx="1737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3.07%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1562710"/>
            <a:ext cx="1737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orders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024128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24128"/>
            <a:ext cx="192024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188720"/>
            <a:ext cx="1737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8.38%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09160" y="1562710"/>
            <a:ext cx="1737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+ Returned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1024128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1024128"/>
            <a:ext cx="192024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1188720"/>
            <a:ext cx="1737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12280" y="1562710"/>
            <a:ext cx="1737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payments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2057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outcomes (count of orders)</a:t>
            </a:r>
            <a:endParaRPr lang="en-US" sz="11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274320" y="2286000"/>
          <a:ext cx="420624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/>
          <p:nvPr/>
        </p:nvSpPr>
        <p:spPr>
          <a:xfrm>
            <a:off x="4709160" y="2057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 rate by payment method</a:t>
            </a:r>
            <a:endParaRPr lang="en-US" sz="1100" dirty="0"/>
          </a:p>
        </p:txBody>
      </p:sp>
      <p:graphicFrame>
        <p:nvGraphicFramePr>
          <p:cNvPr id="25" name="Chart 1"/>
          <p:cNvGraphicFramePr/>
          <p:nvPr/>
        </p:nvGraphicFramePr>
        <p:xfrm>
          <a:off x="4572000" y="2286000"/>
          <a:ext cx="420624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 22"/>
          <p:cNvSpPr/>
          <p:nvPr/>
        </p:nvSpPr>
        <p:spPr>
          <a:xfrm>
            <a:off x="4709160" y="3977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CardToCard shows the highest observed failure rate among the named methods.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11480" y="4315968"/>
            <a:ext cx="8321040" cy="56692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8" name="Shape 24"/>
          <p:cNvSpPr/>
          <p:nvPr/>
        </p:nvSpPr>
        <p:spPr>
          <a:xfrm>
            <a:off x="411480" y="4315968"/>
            <a:ext cx="64008" cy="5669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/>
          <p:nvPr/>
        </p:nvSpPr>
        <p:spPr>
          <a:xfrm>
            <a:off x="621792" y="43159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2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orders are completed successfully, but cancellations, returns and failed payments represent areas where operational improvements may recover lost sales.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Discounts Do Not Clearly Create Larger Orders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0664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by discount level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234440"/>
          <a:ext cx="4206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709160" y="10241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units per order by discount level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572000" y="1234440"/>
          <a:ext cx="4206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11480" y="3611880"/>
            <a:ext cx="8321040" cy="56692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Text 7"/>
          <p:cNvSpPr/>
          <p:nvPr/>
        </p:nvSpPr>
        <p:spPr>
          <a:xfrm>
            <a:off x="594360" y="3611880"/>
            <a:ext cx="8001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discounts do not appear to materially increase units per order, while AOV generally declines at higher discount levels. Discount and quantity show virtually no linear relationship (correlation approximately -0.008), so no causal effect is claimed.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11480" y="4315968"/>
            <a:ext cx="8321040" cy="56692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11480" y="4315968"/>
            <a:ext cx="64008" cy="5669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4" name="Text 10"/>
          <p:cNvSpPr/>
          <p:nvPr/>
        </p:nvSpPr>
        <p:spPr>
          <a:xfrm>
            <a:off x="621792" y="43159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2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basket size remains relatively stable across discount levels, while AOV generally decreases as discounts become larger.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5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Actions for the Operations Team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0664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265176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8" name="Shape 6"/>
          <p:cNvSpPr/>
          <p:nvPr/>
        </p:nvSpPr>
        <p:spPr>
          <a:xfrm>
            <a:off x="576072" y="1234440"/>
            <a:ext cx="329184" cy="329184"/>
          </a:xfrm>
          <a:prstGeom prst="ellipse">
            <a:avLst/>
          </a:prstGeom>
          <a:solidFill>
            <a:srgbClr val="0F2546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121615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Investigate Cancellations and Returns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" y="18288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8.38% of orders are cancelled or returned.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reasons, products and customer groups behind these orders.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51560"/>
            <a:ext cx="265176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4" name="Shape 12"/>
          <p:cNvSpPr/>
          <p:nvPr/>
        </p:nvSpPr>
        <p:spPr>
          <a:xfrm>
            <a:off x="3410712" y="1234440"/>
            <a:ext cx="329184" cy="329184"/>
          </a:xfrm>
          <a:prstGeom prst="ellipse">
            <a:avLst/>
          </a:prstGeom>
          <a:solidFill>
            <a:srgbClr val="0F2546"/>
          </a:solidFill>
          <a:ln/>
        </p:spPr>
      </p:sp>
      <p:sp>
        <p:nvSpPr>
          <p:cNvPr id="15" name="Text 13"/>
          <p:cNvSpPr/>
          <p:nvPr/>
        </p:nvSpPr>
        <p:spPr>
          <a:xfrm>
            <a:off x="3410712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13048" y="121615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Payment Failures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47288" y="18288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3.50% of payment attempts fail.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CardToCard has the highest observed failure rate among the named methods.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failures concentrate by method, time, product or customer.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051560"/>
            <a:ext cx="265176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45352" y="1234440"/>
            <a:ext cx="329184" cy="329184"/>
          </a:xfrm>
          <a:prstGeom prst="ellipse">
            <a:avLst/>
          </a:prstGeom>
          <a:solidFill>
            <a:srgbClr val="0F2546"/>
          </a:solidFill>
          <a:ln/>
        </p:spPr>
      </p:sp>
      <p:sp>
        <p:nvSpPr>
          <p:cNvPr id="21" name="Text 19"/>
          <p:cNvSpPr/>
          <p:nvPr/>
        </p:nvSpPr>
        <p:spPr>
          <a:xfrm>
            <a:off x="6245352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47688" y="121615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the Discount Strategy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81928" y="18288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discounts do not materially increase units per order.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generally falls at higher discount levels.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discounts generate enough volume to justify the revenue reduction.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493008"/>
            <a:ext cx="8321040" cy="138988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3493008"/>
            <a:ext cx="64008" cy="1389888"/>
          </a:xfrm>
          <a:prstGeom prst="rect">
            <a:avLst/>
          </a:prstGeom>
          <a:solidFill>
            <a:srgbClr val="0F254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858768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missing Quantity values, so revenue could not be calculated for those records.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missing OrderDate values, excluded from time-trend analysis.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missing City values, grouped as "Uncategorized".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quantities were not guessed or artificially replaced. Revenue was recognised only for Completed + Paid orders.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Is the Shop Performing?</dc:title>
  <dc:subject>PptxGenJS Presentation</dc:subject>
  <dc:creator>Operations Analysis</dc:creator>
  <cp:lastModifiedBy>Operations Analysis</cp:lastModifiedBy>
  <cp:revision>4</cp:revision>
  <dcterms:created xsi:type="dcterms:W3CDTF">2026-09-29T12:34:17Z</dcterms:created>
  <dcterms:modified xsi:type="dcterms:W3CDTF">2026-09-29T13:04:14Z</dcterms:modified>
</cp:coreProperties>
</file>